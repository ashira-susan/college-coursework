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fld id="{32637B58-87C1-446D-BDA9-B06F4BCF778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0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32637B58-87C1-446D-BDA9-B06F4BCF778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1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28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6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7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2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14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6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6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32637B58-87C1-446D-BDA9-B06F4BCF7782}" type="datetimeFigureOut">
              <a:rPr lang="en-US" smtClean="0"/>
              <a:pPr/>
              <a:t>8/2/2026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3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EA57-2044-799D-FF0A-706264067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538" y="1920436"/>
            <a:ext cx="8504275" cy="1002891"/>
          </a:xfrm>
        </p:spPr>
        <p:txBody>
          <a:bodyPr/>
          <a:lstStyle/>
          <a:p>
            <a:pPr algn="ctr"/>
            <a:r>
              <a:rPr lang="en-IN" dirty="0"/>
              <a:t>5G 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DC44D4-C455-1632-E9AF-6ECA4C283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6302" y="3128662"/>
            <a:ext cx="8504275" cy="435478"/>
          </a:xfrm>
        </p:spPr>
        <p:txBody>
          <a:bodyPr>
            <a:normAutofit/>
          </a:bodyPr>
          <a:lstStyle/>
          <a:p>
            <a:pPr algn="ctr"/>
            <a:r>
              <a:rPr lang="en-IN" sz="2000" dirty="0"/>
              <a:t>CSA0403 – OPERATING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47D60-4B4D-FEFC-B381-2D87A71D1887}"/>
              </a:ext>
            </a:extLst>
          </p:cNvPr>
          <p:cNvSpPr txBox="1"/>
          <p:nvPr/>
        </p:nvSpPr>
        <p:spPr>
          <a:xfrm>
            <a:off x="481781" y="4421487"/>
            <a:ext cx="2910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Under the Guidance of,</a:t>
            </a:r>
          </a:p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Dr. Charlyn Pushpa Latha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EF843A-120A-2EB5-76CA-9F8DC4051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75" y="227094"/>
            <a:ext cx="2325528" cy="9711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7B5AB6-F12F-89F9-CA68-20F618979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665" y="344553"/>
            <a:ext cx="2712742" cy="7362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E700F8-1AB1-3524-A50A-F59C9A7F1498}"/>
              </a:ext>
            </a:extLst>
          </p:cNvPr>
          <p:cNvSpPr txBox="1"/>
          <p:nvPr/>
        </p:nvSpPr>
        <p:spPr>
          <a:xfrm>
            <a:off x="7712510" y="4270920"/>
            <a:ext cx="3981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Presented by,</a:t>
            </a:r>
          </a:p>
          <a:p>
            <a:r>
              <a:rPr lang="en-IN" dirty="0">
                <a:solidFill>
                  <a:srgbClr val="FF0000"/>
                </a:solidFill>
              </a:rPr>
              <a:t>Ashira Bridget Susan S (192524316)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513155-7A37-3E87-3215-3E12870C9CDE}"/>
              </a:ext>
            </a:extLst>
          </p:cNvPr>
          <p:cNvSpPr txBox="1"/>
          <p:nvPr/>
        </p:nvSpPr>
        <p:spPr>
          <a:xfrm>
            <a:off x="4788309" y="5609893"/>
            <a:ext cx="2418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Technical Presentation</a:t>
            </a:r>
            <a:br>
              <a:rPr lang="en-IN" dirty="0"/>
            </a:br>
            <a:r>
              <a:rPr lang="en-IN" dirty="0"/>
              <a:t>CO1_AT1</a:t>
            </a:r>
          </a:p>
        </p:txBody>
      </p:sp>
    </p:spTree>
    <p:extLst>
      <p:ext uri="{BB962C8B-B14F-4D97-AF65-F5344CB8AC3E}">
        <p14:creationId xmlns:p14="http://schemas.microsoft.com/office/powerpoint/2010/main" val="1073895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9127-4FB8-C340-9E49-6FD5D49C8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390" y="1315315"/>
            <a:ext cx="10824687" cy="886631"/>
          </a:xfrm>
        </p:spPr>
        <p:txBody>
          <a:bodyPr>
            <a:normAutofit fontScale="90000"/>
          </a:bodyPr>
          <a:lstStyle/>
          <a:p>
            <a:r>
              <a:rPr lang="en-IN" dirty="0"/>
              <a:t>Evolution of Mobile Generations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3478BF-EC5B-6FF9-DF0A-0188BFB1E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7548" y="2269860"/>
            <a:ext cx="8504275" cy="382620"/>
          </a:xfrm>
        </p:spPr>
        <p:txBody>
          <a:bodyPr/>
          <a:lstStyle/>
          <a:p>
            <a:r>
              <a:rPr lang="en-IN" dirty="0"/>
              <a:t>From Voice Calls to Hyper-Connectivity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0B95A9-CD6D-053A-6D2E-05E0C471B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75" y="227094"/>
            <a:ext cx="2325528" cy="971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68EB87-8B36-D771-E768-F655CEB37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665" y="344553"/>
            <a:ext cx="2712742" cy="7362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9B9716-78E6-059E-8144-E9C730FB4D97}"/>
                  </a:ext>
                </a:extLst>
              </p:cNvPr>
              <p:cNvSpPr txBox="1"/>
              <p:nvPr/>
            </p:nvSpPr>
            <p:spPr>
              <a:xfrm>
                <a:off x="786581" y="2890681"/>
                <a:ext cx="9075174" cy="2446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b="1" dirty="0"/>
                  <a:t>1G &amp; 2G:</a:t>
                </a:r>
                <a:r>
                  <a:rPr lang="en-IN" dirty="0"/>
                  <a:t> Analog voice calls </a:t>
                </a:r>
                <a14:m>
                  <m:oMath xmlns:m="http://schemas.openxmlformats.org/officeDocument/2006/math">
                    <m:r>
                      <a:rPr lang="en-IN"/>
                      <m:t>→</m:t>
                    </m:r>
                  </m:oMath>
                </a14:m>
                <a:r>
                  <a:rPr lang="en-IN" dirty="0"/>
                  <a:t>Digital text messaging (SMS).</a:t>
                </a:r>
              </a:p>
              <a:p>
                <a:pPr marL="285750" lvl="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b="1" dirty="0"/>
                  <a:t>3G &amp; 4G:</a:t>
                </a:r>
                <a:r>
                  <a:rPr lang="en-IN" dirty="0"/>
                  <a:t> Mobile internet browsing </a:t>
                </a:r>
                <a14:m>
                  <m:oMath xmlns:m="http://schemas.openxmlformats.org/officeDocument/2006/math">
                    <m:r>
                      <a:rPr lang="en-IN"/>
                      <m:t>→</m:t>
                    </m:r>
                  </m:oMath>
                </a14:m>
                <a:r>
                  <a:rPr lang="en-IN" dirty="0"/>
                  <a:t>High-definition video streaming and app ecosystems.</a:t>
                </a:r>
              </a:p>
              <a:p>
                <a:pPr marL="285750" lvl="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b="1" dirty="0"/>
                  <a:t>5G Paradigm Shift:</a:t>
                </a:r>
                <a:r>
                  <a:rPr lang="en-IN" dirty="0"/>
                  <a:t> Built not just for humans, but for billions of interconnected machines, sensors, and critical infrastructure.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9B9716-78E6-059E-8144-E9C730FB4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81" y="2890681"/>
                <a:ext cx="9075174" cy="2446824"/>
              </a:xfrm>
              <a:prstGeom prst="rect">
                <a:avLst/>
              </a:prstGeom>
              <a:blipFill>
                <a:blip r:embed="rId4"/>
                <a:stretch>
                  <a:fillRect l="-403" r="-9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159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7D53B-582F-BE4F-1F68-12DA2F96A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1DAD-70A3-31F8-F461-135E05B36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390" y="1406014"/>
            <a:ext cx="8504275" cy="971146"/>
          </a:xfrm>
        </p:spPr>
        <p:txBody>
          <a:bodyPr>
            <a:normAutofit/>
          </a:bodyPr>
          <a:lstStyle/>
          <a:p>
            <a:r>
              <a:rPr lang="en-IN" dirty="0"/>
              <a:t>Core Technical Pillars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DCFD0B-47A5-546D-D449-78EB8652E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413" y="2377160"/>
            <a:ext cx="8504275" cy="382620"/>
          </a:xfrm>
        </p:spPr>
        <p:txBody>
          <a:bodyPr/>
          <a:lstStyle/>
          <a:p>
            <a:r>
              <a:rPr lang="en-IN" dirty="0"/>
              <a:t>The Three Core Capabilities of 5G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12B81F-633C-AD91-CEB8-312E64632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75" y="227094"/>
            <a:ext cx="2325528" cy="971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5358EE-3D24-42FF-DCCC-7B8162C68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665" y="344553"/>
            <a:ext cx="2712742" cy="7362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A149FB-3201-0DDC-C05A-5B1D9DEAD20D}"/>
              </a:ext>
            </a:extLst>
          </p:cNvPr>
          <p:cNvSpPr txBox="1"/>
          <p:nvPr/>
        </p:nvSpPr>
        <p:spPr>
          <a:xfrm>
            <a:off x="659390" y="3087329"/>
            <a:ext cx="9075174" cy="2533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 err="1"/>
              <a:t>eMBB</a:t>
            </a:r>
            <a:r>
              <a:rPr lang="en-IN" b="1" dirty="0"/>
              <a:t> (Enhanced Mobile Broadband):</a:t>
            </a:r>
            <a:r>
              <a:rPr lang="en-IN" dirty="0"/>
              <a:t> Peak speeds up to 10–20 Gbps (~100x faster than 4G).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URLLC (Ultra-Reliable Low-Latency Communication):</a:t>
            </a:r>
            <a:r>
              <a:rPr lang="en-IN" dirty="0"/>
              <a:t> Reduces delay to under 1ms for real-time responsiveness.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 err="1"/>
              <a:t>mMTC</a:t>
            </a:r>
            <a:r>
              <a:rPr lang="en-IN" b="1" dirty="0"/>
              <a:t> (Massive Machine-Type Communications):</a:t>
            </a:r>
            <a:r>
              <a:rPr lang="en-IN" dirty="0"/>
              <a:t> Supports up to 1 million devices per square </a:t>
            </a:r>
            <a:r>
              <a:rPr lang="en-IN" dirty="0" err="1"/>
              <a:t>kilometer</a:t>
            </a:r>
            <a:r>
              <a:rPr lang="en-IN" dirty="0"/>
              <a:t> for scale.</a:t>
            </a:r>
          </a:p>
        </p:txBody>
      </p:sp>
    </p:spTree>
    <p:extLst>
      <p:ext uri="{BB962C8B-B14F-4D97-AF65-F5344CB8AC3E}">
        <p14:creationId xmlns:p14="http://schemas.microsoft.com/office/powerpoint/2010/main" val="3343120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4D58F-C08D-2B93-CE56-ABD5938B3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5D49F-543C-40EC-10E1-A7F2C622E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390" y="1406013"/>
            <a:ext cx="9998778" cy="971147"/>
          </a:xfrm>
        </p:spPr>
        <p:txBody>
          <a:bodyPr>
            <a:normAutofit/>
          </a:bodyPr>
          <a:lstStyle/>
          <a:p>
            <a:r>
              <a:rPr lang="en-IN" dirty="0"/>
              <a:t>Key Enabling Technologies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8AA26-148D-78CC-A4CC-915051521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756" y="2393623"/>
            <a:ext cx="8504275" cy="382620"/>
          </a:xfrm>
        </p:spPr>
        <p:txBody>
          <a:bodyPr/>
          <a:lstStyle/>
          <a:p>
            <a:r>
              <a:rPr lang="en-IN" dirty="0"/>
              <a:t>From Voice Calls to Hyper-Connectivity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6D4656-B87B-8A49-0691-D79552846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75" y="227094"/>
            <a:ext cx="2325528" cy="971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130D5B-8ACE-6A01-0DDC-78D951830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665" y="344553"/>
            <a:ext cx="2712742" cy="7362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FD9E27-5CE8-414C-5F78-3D3828309B09}"/>
              </a:ext>
            </a:extLst>
          </p:cNvPr>
          <p:cNvSpPr txBox="1"/>
          <p:nvPr/>
        </p:nvSpPr>
        <p:spPr>
          <a:xfrm>
            <a:off x="659390" y="3257429"/>
            <a:ext cx="9075174" cy="294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 err="1"/>
              <a:t>Millimeter</a:t>
            </a:r>
            <a:r>
              <a:rPr lang="en-IN" b="1" dirty="0"/>
              <a:t> Wave (</a:t>
            </a:r>
            <a:r>
              <a:rPr lang="en-IN" b="1" dirty="0" err="1"/>
              <a:t>mmWave</a:t>
            </a:r>
            <a:r>
              <a:rPr lang="en-IN" b="1" dirty="0"/>
              <a:t>) &amp; Spectrum Bands:</a:t>
            </a:r>
            <a:r>
              <a:rPr lang="en-IN" dirty="0"/>
              <a:t> Uses low-, mid-, and high-band frequencies to balance broad coverage with high capacity.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Massive MIMO &amp; Beamforming:</a:t>
            </a:r>
            <a:r>
              <a:rPr lang="en-IN" dirty="0"/>
              <a:t> Focuses targeted signal beams directly at individual devices instead of broadcasting in all directions.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Network Slicing:</a:t>
            </a:r>
            <a:r>
              <a:rPr lang="en-IN" dirty="0"/>
              <a:t> Virtualizes one physical network into multiple tailored "slices" optimized for distinct enterprise or consumer uses.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107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E1EE4-A452-7A0C-DEAC-CD671875C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5F7C-D2CA-E204-DFF7-F4F369601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390" y="1406013"/>
            <a:ext cx="10165926" cy="1125793"/>
          </a:xfrm>
        </p:spPr>
        <p:txBody>
          <a:bodyPr>
            <a:normAutofit/>
          </a:bodyPr>
          <a:lstStyle/>
          <a:p>
            <a:r>
              <a:rPr lang="en-IN" dirty="0"/>
              <a:t>Transformative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10B8D-B6FF-7BC5-FC8D-96C161E36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413" y="2683859"/>
            <a:ext cx="8504275" cy="382620"/>
          </a:xfrm>
        </p:spPr>
        <p:txBody>
          <a:bodyPr/>
          <a:lstStyle/>
          <a:p>
            <a:r>
              <a:rPr lang="en-IN" dirty="0"/>
              <a:t>Unlocking Enterprise and Consumer Use Cases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967EA-FA9D-E152-469B-B54F7E53D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75" y="227094"/>
            <a:ext cx="2325528" cy="971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E1F663-B9B6-6A9C-36F6-870A0B1AA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665" y="344553"/>
            <a:ext cx="2712742" cy="7362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C3A703-6BC3-2CE9-FA82-9857374C6E40}"/>
              </a:ext>
            </a:extLst>
          </p:cNvPr>
          <p:cNvSpPr txBox="1"/>
          <p:nvPr/>
        </p:nvSpPr>
        <p:spPr>
          <a:xfrm>
            <a:off x="796413" y="3429000"/>
            <a:ext cx="9075174" cy="2533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Smart Cities &amp; Transport:</a:t>
            </a:r>
            <a:r>
              <a:rPr lang="en-IN" dirty="0"/>
              <a:t> Connected traffic control, autonomous vehicles, and real-time public infrastructure monitoring.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Healthcare &amp; Industry 4.0:</a:t>
            </a:r>
            <a:r>
              <a:rPr lang="en-IN" dirty="0"/>
              <a:t> Remote surgical assistance, smart manufacturing robotics, and predictive maintenance.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Immersive Experience:</a:t>
            </a:r>
            <a:r>
              <a:rPr lang="en-IN" dirty="0"/>
              <a:t> Seamless Extended Reality (XR), Cloud Gaming, and high-definition video streaming without lag. </a:t>
            </a:r>
          </a:p>
        </p:txBody>
      </p:sp>
    </p:spTree>
    <p:extLst>
      <p:ext uri="{BB962C8B-B14F-4D97-AF65-F5344CB8AC3E}">
        <p14:creationId xmlns:p14="http://schemas.microsoft.com/office/powerpoint/2010/main" val="335137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B1CE9-2AB5-5276-0C1B-D7CC68D5E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7806-92EB-20EB-32FE-10847EF68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390" y="1369455"/>
            <a:ext cx="10549384" cy="729637"/>
          </a:xfrm>
        </p:spPr>
        <p:txBody>
          <a:bodyPr>
            <a:normAutofit fontScale="90000"/>
          </a:bodyPr>
          <a:lstStyle/>
          <a:p>
            <a:r>
              <a:rPr lang="en-IN" dirty="0"/>
              <a:t>Challenges &amp; The Road Ahead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2A991-AF0C-2544-BBDC-8DA56BD33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413" y="2137450"/>
            <a:ext cx="8504275" cy="382620"/>
          </a:xfrm>
        </p:spPr>
        <p:txBody>
          <a:bodyPr/>
          <a:lstStyle/>
          <a:p>
            <a:r>
              <a:rPr lang="en-IN" dirty="0"/>
              <a:t>Deployment Barriers and What Lies Beyond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B4408-C317-401B-5DC6-57CC50C36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75" y="295918"/>
            <a:ext cx="2325528" cy="971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5C2FD4-0DCA-9AAC-543D-A1C277B6E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665" y="413377"/>
            <a:ext cx="2712742" cy="7362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BFDEBC-54B0-F6B8-15E9-250A763B0C2C}"/>
              </a:ext>
            </a:extLst>
          </p:cNvPr>
          <p:cNvSpPr txBox="1"/>
          <p:nvPr/>
        </p:nvSpPr>
        <p:spPr>
          <a:xfrm>
            <a:off x="747253" y="3346028"/>
            <a:ext cx="9075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2A2731-11CD-429C-B2C7-95738B912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283020"/>
              </p:ext>
            </p:extLst>
          </p:nvPr>
        </p:nvGraphicFramePr>
        <p:xfrm>
          <a:off x="796413" y="2674803"/>
          <a:ext cx="10726365" cy="3142205"/>
        </p:xfrm>
        <a:graphic>
          <a:graphicData uri="http://schemas.openxmlformats.org/drawingml/2006/table">
            <a:tbl>
              <a:tblPr/>
              <a:tblGrid>
                <a:gridCol w="3559277">
                  <a:extLst>
                    <a:ext uri="{9D8B030D-6E8A-4147-A177-3AD203B41FA5}">
                      <a16:colId xmlns:a16="http://schemas.microsoft.com/office/drawing/2014/main" val="864193967"/>
                    </a:ext>
                  </a:extLst>
                </a:gridCol>
                <a:gridCol w="7167088">
                  <a:extLst>
                    <a:ext uri="{9D8B030D-6E8A-4147-A177-3AD203B41FA5}">
                      <a16:colId xmlns:a16="http://schemas.microsoft.com/office/drawing/2014/main" val="1077596038"/>
                    </a:ext>
                  </a:extLst>
                </a:gridCol>
              </a:tblGrid>
              <a:tr h="419388"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IN" sz="2100" b="1" dirty="0">
                          <a:effectLst/>
                          <a:latin typeface="Google Sans Text"/>
                        </a:rPr>
                        <a:t>Area </a:t>
                      </a:r>
                      <a:endParaRPr lang="en-IN" sz="2100" dirty="0">
                        <a:effectLst/>
                        <a:latin typeface="Google Sans Text"/>
                      </a:endParaRPr>
                    </a:p>
                  </a:txBody>
                  <a:tcPr marT="51258" marB="5125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IN" sz="2100" b="1">
                          <a:effectLst/>
                          <a:latin typeface="Google Sans Text"/>
                        </a:rPr>
                        <a:t>Key Consideration</a:t>
                      </a:r>
                      <a:endParaRPr lang="en-IN" sz="2100">
                        <a:effectLst/>
                        <a:latin typeface="Google Sans Text"/>
                      </a:endParaRPr>
                    </a:p>
                  </a:txBody>
                  <a:tcPr marT="51258" marB="5125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461330"/>
                  </a:ext>
                </a:extLst>
              </a:tr>
              <a:tr h="833259"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IN" sz="2100" b="1">
                          <a:effectLst/>
                          <a:latin typeface="Google Sans Text"/>
                        </a:rPr>
                        <a:t>Infrastructure Costs</a:t>
                      </a:r>
                      <a:endParaRPr lang="en-IN" sz="2100">
                        <a:effectLst/>
                        <a:latin typeface="Google Sans Text"/>
                      </a:endParaRPr>
                    </a:p>
                  </a:txBody>
                  <a:tcPr marT="51258" marB="5125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IN" sz="2100">
                          <a:effectLst/>
                          <a:latin typeface="Google Sans Text"/>
                        </a:rPr>
                        <a:t>Requires dense "small cell" node deployment to maintain high-band coverage.</a:t>
                      </a:r>
                    </a:p>
                  </a:txBody>
                  <a:tcPr marT="51258" marB="5125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477614"/>
                  </a:ext>
                </a:extLst>
              </a:tr>
              <a:tr h="833259"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IN" sz="2100" b="1">
                          <a:effectLst/>
                          <a:latin typeface="Google Sans Text"/>
                        </a:rPr>
                        <a:t>Cybersecurity</a:t>
                      </a:r>
                      <a:endParaRPr lang="en-IN" sz="2100">
                        <a:effectLst/>
                        <a:latin typeface="Google Sans Text"/>
                      </a:endParaRPr>
                    </a:p>
                  </a:txBody>
                  <a:tcPr marT="51258" marB="5125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IN" sz="2100">
                          <a:effectLst/>
                          <a:latin typeface="Google Sans Text"/>
                        </a:rPr>
                        <a:t>Broader attack surface due to network slicing and millions of connected IoT endpoints.</a:t>
                      </a:r>
                    </a:p>
                  </a:txBody>
                  <a:tcPr marT="51258" marB="5125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384137"/>
                  </a:ext>
                </a:extLst>
              </a:tr>
              <a:tr h="1053131"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IN" sz="2100" b="1">
                          <a:effectLst/>
                          <a:latin typeface="Google Sans Text"/>
                        </a:rPr>
                        <a:t>Looking Forward</a:t>
                      </a:r>
                      <a:endParaRPr lang="en-IN" sz="2100">
                        <a:effectLst/>
                        <a:latin typeface="Google Sans Text"/>
                      </a:endParaRPr>
                    </a:p>
                  </a:txBody>
                  <a:tcPr marT="51258" marB="5125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IN" sz="2100" dirty="0">
                          <a:effectLst/>
                          <a:latin typeface="Google Sans Text"/>
                        </a:rPr>
                        <a:t>Maturation of Standalone (SA) 5G networks and ongoing foundational research toward 6G.</a:t>
                      </a:r>
                    </a:p>
                  </a:txBody>
                  <a:tcPr marT="51258" marB="5125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109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678538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 overlay</Template>
  <TotalTime>69</TotalTime>
  <Words>351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Nova Light</vt:lpstr>
      <vt:lpstr>Elephant</vt:lpstr>
      <vt:lpstr>Google Sans Text</vt:lpstr>
      <vt:lpstr>Wingdings</vt:lpstr>
      <vt:lpstr>ModOverlayVTI</vt:lpstr>
      <vt:lpstr>5G  TECHNOLOGY</vt:lpstr>
      <vt:lpstr>Evolution of Mobile Generations</vt:lpstr>
      <vt:lpstr>Core Technical Pillars</vt:lpstr>
      <vt:lpstr>Key Enabling Technologies</vt:lpstr>
      <vt:lpstr>Transformative Applications</vt:lpstr>
      <vt:lpstr>Challenges &amp; The Road Ahead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absusan2505@gmail.com</dc:creator>
  <cp:lastModifiedBy>absusan2505@gmail.com</cp:lastModifiedBy>
  <cp:revision>2</cp:revision>
  <dcterms:created xsi:type="dcterms:W3CDTF">2026-07-31T06:25:09Z</dcterms:created>
  <dcterms:modified xsi:type="dcterms:W3CDTF">2026-08-02T15:21:46Z</dcterms:modified>
</cp:coreProperties>
</file>