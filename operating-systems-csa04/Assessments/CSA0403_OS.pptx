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9" r:id="rId4"/>
    <p:sldId id="266" r:id="rId5"/>
    <p:sldId id="258" r:id="rId6"/>
    <p:sldId id="273" r:id="rId7"/>
    <p:sldId id="274" r:id="rId8"/>
    <p:sldId id="260" r:id="rId9"/>
    <p:sldId id="261" r:id="rId10"/>
    <p:sldId id="262" r:id="rId11"/>
    <p:sldId id="263" r:id="rId12"/>
    <p:sldId id="271" r:id="rId13"/>
    <p:sldId id="264" r:id="rId14"/>
    <p:sldId id="265" r:id="rId15"/>
    <p:sldId id="272" r:id="rId16"/>
    <p:sldId id="267" r:id="rId17"/>
    <p:sldId id="268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2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2637B58-87C1-446D-BDA9-B06F4BCF7782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DA6D-FA87-9C43-DCDC-9A29DDB3F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538" y="1473415"/>
            <a:ext cx="9910917" cy="1731830"/>
          </a:xfrm>
        </p:spPr>
        <p:txBody>
          <a:bodyPr>
            <a:noAutofit/>
          </a:bodyPr>
          <a:lstStyle/>
          <a:p>
            <a:pPr algn="ctr"/>
            <a:r>
              <a:rPr lang="en-IN" sz="3200" dirty="0"/>
              <a:t>Design and Development of a Real-time Process Monitoring, Scheduling and Performance Analysis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842CE-96EF-A361-E544-161931AF2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3860" y="3399093"/>
            <a:ext cx="8504275" cy="455142"/>
          </a:xfrm>
        </p:spPr>
        <p:txBody>
          <a:bodyPr/>
          <a:lstStyle/>
          <a:p>
            <a:pPr algn="ctr"/>
            <a:r>
              <a:rPr lang="en-IN" dirty="0"/>
              <a:t>Csa0403 – OPERATING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D90B2-F891-4B64-AD23-5C147AA25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E0A909-AC1A-AA0F-8C54-58976104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E241AF-EFE3-46EE-2EEE-4D534B867F3E}"/>
              </a:ext>
            </a:extLst>
          </p:cNvPr>
          <p:cNvSpPr txBox="1"/>
          <p:nvPr/>
        </p:nvSpPr>
        <p:spPr>
          <a:xfrm>
            <a:off x="686113" y="4156455"/>
            <a:ext cx="4788131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Paneesha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(192472206)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Prithiyanka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M 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192521144)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Vishali P (192524313)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Ashira Bridget Susan S (192524316)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Lasyasree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(192511140)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80A04-ED3D-9AD1-E149-BD216A9C5C7A}"/>
              </a:ext>
            </a:extLst>
          </p:cNvPr>
          <p:cNvSpPr txBox="1"/>
          <p:nvPr/>
        </p:nvSpPr>
        <p:spPr>
          <a:xfrm>
            <a:off x="7365076" y="4738255"/>
            <a:ext cx="3158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Under the Guidance of,</a:t>
            </a:r>
          </a:p>
          <a:p>
            <a:r>
              <a:rPr lang="en-IN" dirty="0"/>
              <a:t>Dr. Charlyn Pushpa Latha G</a:t>
            </a:r>
          </a:p>
        </p:txBody>
      </p:sp>
    </p:spTree>
    <p:extLst>
      <p:ext uri="{BB962C8B-B14F-4D97-AF65-F5344CB8AC3E}">
        <p14:creationId xmlns:p14="http://schemas.microsoft.com/office/powerpoint/2010/main" val="161355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D440-17B6-01A6-6F65-6CD02433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0DF2-B2BD-E33C-00AA-15D621C76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4206" y="287154"/>
            <a:ext cx="6666273" cy="912382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64D01-8147-634B-AAC3-9FC69EC26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4BC45-AD7B-315C-DC3C-458CC683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57BF85-FA0D-B450-ACDA-DD122754A114}"/>
              </a:ext>
            </a:extLst>
          </p:cNvPr>
          <p:cNvSpPr txBox="1"/>
          <p:nvPr/>
        </p:nvSpPr>
        <p:spPr>
          <a:xfrm>
            <a:off x="900066" y="1907974"/>
            <a:ext cx="6012012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system for tracking, scheduling, and evaluating running processes.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process states, CPU usage, waiting time, and execution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scheduling strategies to improve resource utilization and responsiveness.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process data into meaningful performance insights.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B45793-B2F8-4EC8-C16A-A50E68D9D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889" y="1544180"/>
            <a:ext cx="3658585" cy="298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88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FD2E-B5F2-33DB-E37F-567E366D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A35F-C5BB-DC5D-F031-D811154DC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956" y="1179871"/>
            <a:ext cx="6666273" cy="912382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75E68-E21A-9C67-2FB6-9E3391500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177E22-059E-8AF3-7704-C4B6358B8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D5AEEA-6747-19FD-9AF3-A231D80E4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445" y="1947188"/>
            <a:ext cx="3373627" cy="3352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32A986-719F-9B9E-7779-6EEE7D01A905}"/>
              </a:ext>
            </a:extLst>
          </p:cNvPr>
          <p:cNvSpPr txBox="1"/>
          <p:nvPr/>
        </p:nvSpPr>
        <p:spPr>
          <a:xfrm>
            <a:off x="480618" y="2075122"/>
            <a:ext cx="666627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process monitoring often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or delayed performance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scheduling decisions can increase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and response 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makes it difficult to identify process bottlenecks quickly.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system is needed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monitor, schedule, and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dynamically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63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5909-75B1-96EE-3116-6B455B25B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1B26-97D3-C45E-047C-5BBE5CB16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0690" y="491513"/>
            <a:ext cx="6508957" cy="921308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C6BF61-B0B5-9B1E-C0DB-5F5759AC7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529B2B-BAB4-C82F-0C40-27B87D230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9417FA-68B2-14AF-3AD6-6ECF17286C96}"/>
              </a:ext>
            </a:extLst>
          </p:cNvPr>
          <p:cNvSpPr txBox="1"/>
          <p:nvPr/>
        </p:nvSpPr>
        <p:spPr>
          <a:xfrm>
            <a:off x="884903" y="2526890"/>
            <a:ext cx="473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99786D-0272-CE48-493A-704CFC779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33786"/>
              </p:ext>
            </p:extLst>
          </p:nvPr>
        </p:nvGraphicFramePr>
        <p:xfrm>
          <a:off x="727587" y="1784177"/>
          <a:ext cx="1073682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239">
                  <a:extLst>
                    <a:ext uri="{9D8B030D-6E8A-4147-A177-3AD203B41FA5}">
                      <a16:colId xmlns:a16="http://schemas.microsoft.com/office/drawing/2014/main" val="5381291"/>
                    </a:ext>
                  </a:extLst>
                </a:gridCol>
                <a:gridCol w="1809135">
                  <a:extLst>
                    <a:ext uri="{9D8B030D-6E8A-4147-A177-3AD203B41FA5}">
                      <a16:colId xmlns:a16="http://schemas.microsoft.com/office/drawing/2014/main" val="2896642301"/>
                    </a:ext>
                  </a:extLst>
                </a:gridCol>
                <a:gridCol w="3157318">
                  <a:extLst>
                    <a:ext uri="{9D8B030D-6E8A-4147-A177-3AD203B41FA5}">
                      <a16:colId xmlns:a16="http://schemas.microsoft.com/office/drawing/2014/main" val="735772329"/>
                    </a:ext>
                  </a:extLst>
                </a:gridCol>
                <a:gridCol w="2643714">
                  <a:extLst>
                    <a:ext uri="{9D8B030D-6E8A-4147-A177-3AD203B41FA5}">
                      <a16:colId xmlns:a16="http://schemas.microsoft.com/office/drawing/2014/main" val="2452643551"/>
                    </a:ext>
                  </a:extLst>
                </a:gridCol>
                <a:gridCol w="2261419">
                  <a:extLst>
                    <a:ext uri="{9D8B030D-6E8A-4147-A177-3AD203B41FA5}">
                      <a16:colId xmlns:a16="http://schemas.microsoft.com/office/drawing/2014/main" val="3976364090"/>
                    </a:ext>
                  </a:extLst>
                </a:gridCol>
              </a:tblGrid>
              <a:tr h="2954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S. No.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Author(s) &amp;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Methodology / Technology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Key Findings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Research Gap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383975"/>
                  </a:ext>
                </a:extLst>
              </a:tr>
              <a:tr h="960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Lakshman et al. (2027)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Reviewed IoT-based smart library architecture using RFID, sensors, and cloud technologies.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IoT improves book tracking, inventory management, and library automation.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Lacks practical implementation and security evaluation.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8418914"/>
                  </a:ext>
                </a:extLst>
              </a:tr>
              <a:tr h="7385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Limkar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Developed a smart library system using RFID, barcode scanning, and IoT.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Reduces manual work and improves library operations.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Does not include AI-based analytics or predictive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33874"/>
                  </a:ext>
                </a:extLst>
              </a:tr>
              <a:tr h="1181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3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Cheung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Qualitative study on IoT-enabled academic library services.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IoT enhances user experience, resource utilization, and service efficiency.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to qualitative analysis and a specific regional context.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6850894"/>
                  </a:ext>
                </a:extLst>
              </a:tr>
              <a:tr h="772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Naikar &amp; Paul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Reviewed future smart library technologies including AI, IoT, and cloud computing.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Smart libraries offer intelligent and user-centric services.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implementation or performance validation provided.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44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69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7958-CA0F-916C-03EB-4AD1E13F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FD0F-98BB-BD09-A0BF-9DE764447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80" y="1415422"/>
            <a:ext cx="3903408" cy="835342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2D142-6196-CDFD-5F4C-E4B1F728B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F6D01-D1D3-FD1B-4EC0-3244CF76B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BE8971-91CE-20C5-7C1D-A3B92905712B}"/>
              </a:ext>
            </a:extLst>
          </p:cNvPr>
          <p:cNvSpPr txBox="1"/>
          <p:nvPr/>
        </p:nvSpPr>
        <p:spPr>
          <a:xfrm>
            <a:off x="698091" y="2428568"/>
            <a:ext cx="7374194" cy="3728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Monitor process execution and system resource usage in real time.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Implement and compare multiple </a:t>
            </a:r>
            <a:r>
              <a:rPr lang="en-IN" sz="2000" b="1" dirty="0"/>
              <a:t>CPU scheduling techniques</a:t>
            </a:r>
            <a:r>
              <a:rPr lang="en-IN" sz="2000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Calculate waiting time, turnaround time, response time, and CPU utilization.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Detect performance variations and potential bottlenecks.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Present results through clear reports and visual performance indicators.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2E2A76-02D0-60D4-AD12-B00C7E083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285" y="1237617"/>
            <a:ext cx="3903408" cy="283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90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0D7B-5D1C-027B-8A12-B05A8784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DE46-15CA-614B-0F2A-F8FAD7313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79" y="1415422"/>
            <a:ext cx="5427407" cy="835342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Existing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DFC57-55FA-4C00-C12E-020C0173C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1BE61-003C-1115-48F3-8830C20AD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EC9C56-5D13-820B-4B0A-881832E883D9}"/>
              </a:ext>
            </a:extLst>
          </p:cNvPr>
          <p:cNvSpPr txBox="1"/>
          <p:nvPr/>
        </p:nvSpPr>
        <p:spPr>
          <a:xfrm>
            <a:off x="698091" y="2428568"/>
            <a:ext cx="7374194" cy="3728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Monitor process execution and system resource usage in real time.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Implement and compare multiple </a:t>
            </a:r>
            <a:r>
              <a:rPr lang="en-IN" sz="2000" b="1" dirty="0"/>
              <a:t>CPU scheduling techniques</a:t>
            </a:r>
            <a:r>
              <a:rPr lang="en-IN" sz="2000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Calculate waiting time, turnaround time, response time, and CPU utilization.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Detect performance variations and potential bottlenecks.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Present results through clear reports and visual performance indicators.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C1714-D52C-2F5E-B22E-82F3FD601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579" y="1852543"/>
            <a:ext cx="3058996" cy="31529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9217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A590A-9D35-4594-879A-D0EF3EB1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A73D-DB6D-EC09-F1C0-C32A7792E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8" y="1237617"/>
            <a:ext cx="5820697" cy="835342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Proposed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C6FDD-EA4C-ACE7-5D58-69DCDFC6F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96E045-00AB-1EC9-2873-07236F614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8F0F23-63FC-1664-F84B-B6A158898A51}"/>
              </a:ext>
            </a:extLst>
          </p:cNvPr>
          <p:cNvSpPr txBox="1"/>
          <p:nvPr/>
        </p:nvSpPr>
        <p:spPr>
          <a:xfrm>
            <a:off x="619433" y="2072959"/>
            <a:ext cx="7374194" cy="4189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Process monitoring and scheduling are commonly handled as </a:t>
            </a:r>
            <a:r>
              <a:rPr lang="en-IN" sz="2000" b="1" dirty="0"/>
              <a:t>separate activities</a:t>
            </a:r>
            <a:r>
              <a:rPr lang="en-IN" sz="2000" dirty="0"/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Scheduling algorithms are usually evaluated using predefined datasets.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Performance analysis often requires manual calculation.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Limited integration between </a:t>
            </a:r>
            <a:r>
              <a:rPr lang="en-IN" sz="2000" b="1" dirty="0"/>
              <a:t>live process status and scheduling decisions</a:t>
            </a:r>
            <a:r>
              <a:rPr lang="en-IN" sz="2000" dirty="0"/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Difficult to obtain a complete performance overview from a single interface.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4AE6FC-38BC-65E7-EEE4-0A22F7E3F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637" y="1560472"/>
            <a:ext cx="3520745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4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3F7CC-BAE0-6C49-DA23-636BE6C8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70EB-312A-323E-C299-4AC21267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340" y="1346998"/>
            <a:ext cx="10825320" cy="9123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/>
              <a:t>Module 1: Process Input &amp; Monitoring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49EF1-08F8-2FE6-9101-DD07D4DB5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278AA0-9038-B89F-F7FA-BDD4596D0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74607E-CAB2-68BE-F635-F44283146932}"/>
              </a:ext>
            </a:extLst>
          </p:cNvPr>
          <p:cNvSpPr txBox="1"/>
          <p:nvPr/>
        </p:nvSpPr>
        <p:spPr>
          <a:xfrm>
            <a:off x="845574" y="2762865"/>
            <a:ext cx="5683045" cy="253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Accepts process details such as </a:t>
            </a:r>
            <a:r>
              <a:rPr lang="en-IN" b="1" dirty="0"/>
              <a:t>Process ID, arrival time, burst time, and priority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Maintains the current state of every process.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Tracks transitions such as </a:t>
            </a:r>
            <a:r>
              <a:rPr lang="en-IN" b="1" dirty="0"/>
              <a:t>Ready, Running, and Completed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Continuously updates process execution information.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D167C-8CCF-DD0A-3729-868C21224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356" y="2762865"/>
            <a:ext cx="3215919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05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A2FBB-B25F-532B-F7B5-6D544BFB3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5AA7-F8BA-C78D-5CF3-DA87011F3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923" y="1121472"/>
            <a:ext cx="8804788" cy="9213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/>
              <a:t>Module 2: Scheduling Engine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0DAE9A-B4A0-E16B-8DD1-EDAC7717F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5F99F5-4458-9080-9CF9-5449F6F72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7825FA-02D0-9D44-B368-9479A684C0FB}"/>
              </a:ext>
            </a:extLst>
          </p:cNvPr>
          <p:cNvSpPr txBox="1"/>
          <p:nvPr/>
        </p:nvSpPr>
        <p:spPr>
          <a:xfrm>
            <a:off x="1140541" y="2465954"/>
            <a:ext cx="5850194" cy="3364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Implements selected CPU scheduling algorithms.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Determines the next process based on scheduling criteria.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Handles process queues and execution order.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Supports comparison between different scheduling strategies.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Highlights how scheduling decisions affect overall performance.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0313D-3FD4-D819-5879-343A3977D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001" y="2465954"/>
            <a:ext cx="3932261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9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14BF-F329-CE6D-0CBF-645F0C65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2B32-A165-7F90-89C9-67AC34254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343" y="1179871"/>
            <a:ext cx="8770373" cy="139115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/>
              <a:t>Module 3: Real-Time Performance Tracking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50C4D-28B4-0C78-FA17-F71F34F96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3F8AE4-EC42-E1FB-6398-01DED4E76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E522A7-59AC-926E-5F93-CAF97357D631}"/>
              </a:ext>
            </a:extLst>
          </p:cNvPr>
          <p:cNvSpPr txBox="1"/>
          <p:nvPr/>
        </p:nvSpPr>
        <p:spPr>
          <a:xfrm>
            <a:off x="950390" y="2987854"/>
            <a:ext cx="5928851" cy="253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Records execution metrics while processes are being simulated.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Calculates </a:t>
            </a:r>
            <a:r>
              <a:rPr lang="en-IN" b="1" dirty="0"/>
              <a:t>waiting, turnaround, and response times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Monitors CPU utilization and scheduling efficiency.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Identifies processes experiencing excessive delays.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Provides continuously updated performance indicators.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B32603-3E82-6A0B-BB87-6BFFED787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942" y="2987854"/>
            <a:ext cx="3013815" cy="286381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422467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85B7-8143-2FA7-E535-E6EF2339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304E-AFA5-AD40-F3A8-396D473B3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586" y="1390130"/>
            <a:ext cx="10461523" cy="9123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/>
              <a:t>Module 4: Analysis &amp;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56242-5A39-868F-CC52-7239E3A92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6023FF-0444-A58C-7E4F-9F3DF62C4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B6414F-C03F-9FB7-0865-3C29C2FC4137}"/>
              </a:ext>
            </a:extLst>
          </p:cNvPr>
          <p:cNvSpPr txBox="1"/>
          <p:nvPr/>
        </p:nvSpPr>
        <p:spPr>
          <a:xfrm>
            <a:off x="894735" y="2729082"/>
            <a:ext cx="6469626" cy="294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Compares scheduling algorithms using common performance metrics.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Identifies the algorithm producing better execution efficiency.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Detects bottlenecks and inefficient process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Converts collected data into </a:t>
            </a:r>
            <a:r>
              <a:rPr lang="en-IN" b="1" dirty="0"/>
              <a:t>comparative performance insights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Supports data-driven evaluation of scheduling decisions.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25A40-76D9-38F3-7E67-4FE4160B9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15" y="2595660"/>
            <a:ext cx="3444538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233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92A03-3A1D-5179-4772-6A6FEFFE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F63C-2644-1516-8558-775163FEF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069" y="1332069"/>
            <a:ext cx="10275873" cy="9123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/>
              <a:t>Module 5: Reports &amp;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0B6B2-DE42-8126-C4D9-2BDA69AE1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B5FA71-8993-BCA4-73B1-FCC62697D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28A1EB-BD4B-6CF4-26A9-EE48C1FC1034}"/>
              </a:ext>
            </a:extLst>
          </p:cNvPr>
          <p:cNvSpPr txBox="1"/>
          <p:nvPr/>
        </p:nvSpPr>
        <p:spPr>
          <a:xfrm>
            <a:off x="1531581" y="2780071"/>
            <a:ext cx="6469626" cy="253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Displays process status and scheduling results in an organized dashboard.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Generates tables and charts for performance comparison.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Presents key metrics using easily understandable indicators.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Produces summarized reports for further analysis.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Enables quick interpretation of system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80533-9570-8E08-A659-188A8F3D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738" y="2437189"/>
            <a:ext cx="2771204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82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4FF1D-2248-0472-FBCD-23778265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F590-C6FD-6BD1-7BC8-E4A618C90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1521" y="932073"/>
            <a:ext cx="6508957" cy="921308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Advantages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A903D-B61F-FCB9-19FB-80D28D328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1F0499-C0CB-D922-7EEF-4943E447B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CDC506-6448-290D-F334-7224C7C9286D}"/>
              </a:ext>
            </a:extLst>
          </p:cNvPr>
          <p:cNvSpPr txBox="1"/>
          <p:nvPr/>
        </p:nvSpPr>
        <p:spPr>
          <a:xfrm>
            <a:off x="884903" y="2526890"/>
            <a:ext cx="6666271" cy="253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Provides </a:t>
            </a:r>
            <a:r>
              <a:rPr lang="en-IN" b="1" dirty="0"/>
              <a:t>centralized process monitoring and scheduling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Reduces manual performance calculations.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Enables quick identification of process delays.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Makes scheduling algorithms easier to compare and understand.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Improves visibility into CPU and process performance.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4D012B-3F4B-0E2D-FBCE-C64978E09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374" y="2290916"/>
            <a:ext cx="4060723" cy="324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05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50071-92AA-D957-70B8-86DDA139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B612-6A97-7458-AB9E-28C5EB16B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6796" y="824200"/>
            <a:ext cx="6508957" cy="921308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Limitations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529E0-D486-3E95-FD0D-DC2734401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201F67-6102-5A0A-4097-FAA7398E6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73F789-76C4-31DE-F421-91B51B267105}"/>
              </a:ext>
            </a:extLst>
          </p:cNvPr>
          <p:cNvSpPr txBox="1"/>
          <p:nvPr/>
        </p:nvSpPr>
        <p:spPr>
          <a:xfrm>
            <a:off x="776935" y="2113935"/>
            <a:ext cx="5574891" cy="378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Primarily operates as a </a:t>
            </a:r>
            <a:r>
              <a:rPr lang="en-IN" b="1" dirty="0"/>
              <a:t>simulation-based system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Results depend on the accuracy of input process parameters.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May not represent all complexities of modern operating systems.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Advanced real-time scheduling policies may require additional implementation.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Large-scale process environments may require stronger optimization.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AD15F-135E-4C5B-7E69-CFCB46A18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253" y="2025445"/>
            <a:ext cx="4660302" cy="32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79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EAA57-83E5-4E1F-E89A-82069ADE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4A18D-2792-DC95-E706-935141E90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2427" y="963991"/>
            <a:ext cx="7403598" cy="9213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/>
              <a:t>Real-World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988ED-6EC2-3038-52DA-354630389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043B27-3F0B-7B7D-4B1A-8CDFA4A34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E8909A-6EEC-A817-C0E4-08DFCAE9BEB3}"/>
              </a:ext>
            </a:extLst>
          </p:cNvPr>
          <p:cNvSpPr txBox="1"/>
          <p:nvPr/>
        </p:nvSpPr>
        <p:spPr>
          <a:xfrm>
            <a:off x="521109" y="2025445"/>
            <a:ext cx="5889523" cy="378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Operating System Process Management</a:t>
            </a:r>
            <a:r>
              <a:rPr lang="en-IN" dirty="0"/>
              <a:t> – evaluating CPU scheduling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Data </a:t>
            </a:r>
            <a:r>
              <a:rPr lang="en-IN" b="1" dirty="0" err="1"/>
              <a:t>Centers</a:t>
            </a:r>
            <a:r>
              <a:rPr lang="en-IN" dirty="0"/>
              <a:t> – </a:t>
            </a:r>
            <a:r>
              <a:rPr lang="en-IN" dirty="0" err="1"/>
              <a:t>analyzing</a:t>
            </a:r>
            <a:r>
              <a:rPr lang="en-IN" dirty="0"/>
              <a:t> workload distribution and resource usage.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Cloud Computing</a:t>
            </a:r>
            <a:r>
              <a:rPr lang="en-IN" dirty="0"/>
              <a:t> – studying process allocation and execution efficiency.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Embedded Systems</a:t>
            </a:r>
            <a:r>
              <a:rPr lang="en-IN" dirty="0"/>
              <a:t> – monitoring time-sensitive tasks.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Performance Testing</a:t>
            </a:r>
            <a:r>
              <a:rPr lang="en-IN" dirty="0"/>
              <a:t> – identifying execution bottlenecks in computing workloads.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12CABC-D527-A7C8-B080-D40CDAA73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376883"/>
            <a:ext cx="3962186" cy="30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6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63A8-ACEB-048B-3BF9-41E698EA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909E-5A34-E96A-FE39-F74CFEECA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0690" y="960637"/>
            <a:ext cx="6508957" cy="9213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/>
              <a:t>Future Enhancements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790F2-37E4-1439-7D2F-8DB16CC69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C9119E-579E-9CF3-4AC6-ECF7E2355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F0FC3C-1D87-DDA1-26C4-C0E412F5A3D1}"/>
              </a:ext>
            </a:extLst>
          </p:cNvPr>
          <p:cNvSpPr txBox="1"/>
          <p:nvPr/>
        </p:nvSpPr>
        <p:spPr>
          <a:xfrm>
            <a:off x="639097" y="2584019"/>
            <a:ext cx="6990736" cy="253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Integrate </a:t>
            </a:r>
            <a:r>
              <a:rPr lang="en-IN" b="1" dirty="0"/>
              <a:t>live operating-system process data</a:t>
            </a:r>
            <a:r>
              <a:rPr lang="en-IN" dirty="0"/>
              <a:t> instead of simulated inputs.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Add intelligent scheduling using workload-based decision-making.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Introduce predictive analytics for detecting future bottlenecks.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Develop remote monitoring through a web-based dashboard.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Extend the system for </a:t>
            </a:r>
            <a:r>
              <a:rPr lang="en-IN" b="1" dirty="0"/>
              <a:t>multi-core and distributed environments</a:t>
            </a:r>
            <a:r>
              <a:rPr lang="en-IN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93EE0-3367-D963-72A0-0A4982D40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814" y="1976285"/>
            <a:ext cx="3952568" cy="268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56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3540D-6AD9-EEA4-F3B3-4EB1281B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1FFA-FD3C-8305-B04B-729FE4DBF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4206" y="932072"/>
            <a:ext cx="6508957" cy="921308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964B0-9421-AF28-9293-7E78DE999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7B5740-C0BA-73EA-1A0B-47784A85D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AA4F45-D639-E380-B26B-1030BF3A85A9}"/>
              </a:ext>
            </a:extLst>
          </p:cNvPr>
          <p:cNvSpPr txBox="1"/>
          <p:nvPr/>
        </p:nvSpPr>
        <p:spPr>
          <a:xfrm>
            <a:off x="894735" y="2201975"/>
            <a:ext cx="6381136" cy="3364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system provides an integrated approach to </a:t>
            </a:r>
            <a:r>
              <a:rPr lang="en-IN" b="1" dirty="0"/>
              <a:t>process monitoring, scheduling, and performance analysis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Real-time tracking improves visibility into process execution.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Scheduling comparison helps identify more efficient execution strategies.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Automated analytics simplify performance evaluation.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proposed framework can serve as a foundation for </a:t>
            </a:r>
            <a:r>
              <a:rPr lang="en-IN" b="1" dirty="0"/>
              <a:t>smarter and adaptive process management systems</a:t>
            </a:r>
            <a:r>
              <a:rPr lang="en-IN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0533F0-7B1C-1FE1-1084-DCE6C35435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44"/>
          <a:stretch>
            <a:fillRect/>
          </a:stretch>
        </p:blipFill>
        <p:spPr>
          <a:xfrm>
            <a:off x="7858213" y="1893920"/>
            <a:ext cx="3616033" cy="367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11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A247-668F-5DAB-8EC9-7BD9D11F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30" y="2764498"/>
            <a:ext cx="9914859" cy="1329004"/>
          </a:xfrm>
        </p:spPr>
        <p:txBody>
          <a:bodyPr>
            <a:normAutofit/>
          </a:bodyPr>
          <a:lstStyle/>
          <a:p>
            <a:pPr algn="ctr"/>
            <a:r>
              <a:rPr lang="en-IN" sz="7200" dirty="0"/>
              <a:t>THANK YOU!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5F6BE-12A8-7FD0-FDEB-7986A51C6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6" y="258563"/>
            <a:ext cx="2305250" cy="9213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C8C081-7A3A-BE93-369A-2298CA841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32" y="308029"/>
            <a:ext cx="2305250" cy="91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2082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 overlay</Template>
  <TotalTime>205</TotalTime>
  <Words>945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Nova Light</vt:lpstr>
      <vt:lpstr>Elephant</vt:lpstr>
      <vt:lpstr>Times New Roman</vt:lpstr>
      <vt:lpstr>Wingdings</vt:lpstr>
      <vt:lpstr>ModOverlayVTI</vt:lpstr>
      <vt:lpstr>Design and Development of a Real-time Process Monitoring, Scheduling and Performance Analysis System</vt:lpstr>
      <vt:lpstr>Introduction</vt:lpstr>
      <vt:lpstr>Problem Statement</vt:lpstr>
      <vt:lpstr>Literature Survey</vt:lpstr>
      <vt:lpstr>Objectives</vt:lpstr>
      <vt:lpstr>Existing System</vt:lpstr>
      <vt:lpstr>Proposed System</vt:lpstr>
      <vt:lpstr>Module 1: Process Input &amp; Monitoring</vt:lpstr>
      <vt:lpstr>Module 2: Scheduling Engine</vt:lpstr>
      <vt:lpstr>Module 3: Real-Time Performance Tracking</vt:lpstr>
      <vt:lpstr>Module 4: Analysis &amp; Comparison</vt:lpstr>
      <vt:lpstr>Module 5: Reports &amp; Visualization</vt:lpstr>
      <vt:lpstr>Advantages</vt:lpstr>
      <vt:lpstr>Limitations</vt:lpstr>
      <vt:lpstr>Real-World Applications</vt:lpstr>
      <vt:lpstr>Future Enhancements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absusan2505@gmail.com</dc:creator>
  <cp:lastModifiedBy>absusan2505@gmail.com</cp:lastModifiedBy>
  <cp:revision>27</cp:revision>
  <dcterms:created xsi:type="dcterms:W3CDTF">2026-08-02T15:26:14Z</dcterms:created>
  <dcterms:modified xsi:type="dcterms:W3CDTF">2026-08-31T08:14:53Z</dcterms:modified>
</cp:coreProperties>
</file>