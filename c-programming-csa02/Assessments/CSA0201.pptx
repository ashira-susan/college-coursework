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1" r:id="rId7"/>
    <p:sldId id="260" r:id="rId8"/>
    <p:sldId id="271" r:id="rId9"/>
    <p:sldId id="262" r:id="rId10"/>
    <p:sldId id="263" r:id="rId11"/>
    <p:sldId id="270" r:id="rId12"/>
    <p:sldId id="269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1F17-DE63-1853-589C-E3548BBE1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9" y="1496270"/>
            <a:ext cx="11454580" cy="1659885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Rule-Based Enterprise Workflow Optimization for Identifying and Reducing Task Bottlenecks Using Functions and Dynamic Memory Allocation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35150-7C64-C4AC-6E88-19FB07BB1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3862" y="3403190"/>
            <a:ext cx="8504275" cy="675969"/>
          </a:xfrm>
        </p:spPr>
        <p:txBody>
          <a:bodyPr>
            <a:normAutofit/>
          </a:bodyPr>
          <a:lstStyle/>
          <a:p>
            <a:pPr algn="ctr"/>
            <a:r>
              <a:rPr lang="en-IN" sz="2400" dirty="0"/>
              <a:t>Csa0201 – c programming</a:t>
            </a: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C4999E94-17DE-418E-550D-DEFE1CE8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D5B559-4EE8-FF0A-A24E-41CDDEA3BB4B}"/>
              </a:ext>
            </a:extLst>
          </p:cNvPr>
          <p:cNvSpPr txBox="1"/>
          <p:nvPr/>
        </p:nvSpPr>
        <p:spPr>
          <a:xfrm>
            <a:off x="825909" y="5045175"/>
            <a:ext cx="4552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Charlyn Pushpa Latha 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F9CCA-3D3C-95CA-7D0A-89253C9D3207}"/>
              </a:ext>
            </a:extLst>
          </p:cNvPr>
          <p:cNvSpPr txBox="1"/>
          <p:nvPr/>
        </p:nvSpPr>
        <p:spPr>
          <a:xfrm>
            <a:off x="6882581" y="4829731"/>
            <a:ext cx="3991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Ashira Bridget Susan S – 192524316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Priyavarsheni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V - 192524428</a:t>
            </a:r>
          </a:p>
        </p:txBody>
      </p:sp>
    </p:spTree>
    <p:extLst>
      <p:ext uri="{BB962C8B-B14F-4D97-AF65-F5344CB8AC3E}">
        <p14:creationId xmlns:p14="http://schemas.microsoft.com/office/powerpoint/2010/main" val="299510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7642-2029-65EA-71F3-FC17D6F1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C755-2346-7110-A8DE-9DAA50D18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248" y="1465006"/>
            <a:ext cx="4522524" cy="6784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dirty="0"/>
              <a:t>Introduction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A8B77-4DFA-886A-E604-E4343923F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2143433"/>
            <a:ext cx="7430153" cy="4295456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Modern enterprises handle hundreds of workflow tasks daily across multiple departments.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Delays in task completion can reduce operational efficiency and productivity.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Identifying workflow bottlenecks early helps organizations improve resource utilization.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This project implements a rule-based workflow optimization framework using the C programming language.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Functions and dynamic memory allocation are utilized to efficiently manage and </a:t>
            </a:r>
            <a:r>
              <a:rPr lang="en-IN" cap="none" spc="0" dirty="0" err="1">
                <a:cs typeface="Times New Roman" panose="02020603050405020304" pitchFamily="18" charset="0"/>
              </a:rPr>
              <a:t>analyze</a:t>
            </a:r>
            <a:r>
              <a:rPr lang="en-IN" cap="none" spc="0" dirty="0">
                <a:cs typeface="Times New Roman" panose="02020603050405020304" pitchFamily="18" charset="0"/>
              </a:rPr>
              <a:t> workflow data.</a:t>
            </a:r>
          </a:p>
          <a:p>
            <a:endParaRPr lang="en-IN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62C48D66-693D-50C4-4C8E-CB45B69A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D78E9-5782-F02B-3209-407AD001D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101" y="1465006"/>
            <a:ext cx="3601328" cy="365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9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05F2D-5DE9-CE68-88B2-3BD6F599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0A3C-662F-2A8F-F597-7AB26931B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187" y="1178987"/>
            <a:ext cx="5987845" cy="845574"/>
          </a:xfrm>
        </p:spPr>
        <p:txBody>
          <a:bodyPr>
            <a:normAutofit/>
          </a:bodyPr>
          <a:lstStyle/>
          <a:p>
            <a:r>
              <a:rPr lang="en-IN" sz="4400" dirty="0"/>
              <a:t>Literature Survey</a:t>
            </a: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31FCA654-2179-C95D-3D33-0F5D565E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1B91B9-FCF9-99B6-BF30-6F669534F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11823"/>
              </p:ext>
            </p:extLst>
          </p:nvPr>
        </p:nvGraphicFramePr>
        <p:xfrm>
          <a:off x="550607" y="2261419"/>
          <a:ext cx="11307095" cy="4261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28">
                  <a:extLst>
                    <a:ext uri="{9D8B030D-6E8A-4147-A177-3AD203B41FA5}">
                      <a16:colId xmlns:a16="http://schemas.microsoft.com/office/drawing/2014/main" val="1520430993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2639537940"/>
                    </a:ext>
                  </a:extLst>
                </a:gridCol>
                <a:gridCol w="2684207">
                  <a:extLst>
                    <a:ext uri="{9D8B030D-6E8A-4147-A177-3AD203B41FA5}">
                      <a16:colId xmlns:a16="http://schemas.microsoft.com/office/drawing/2014/main" val="3713214621"/>
                    </a:ext>
                  </a:extLst>
                </a:gridCol>
                <a:gridCol w="3146322">
                  <a:extLst>
                    <a:ext uri="{9D8B030D-6E8A-4147-A177-3AD203B41FA5}">
                      <a16:colId xmlns:a16="http://schemas.microsoft.com/office/drawing/2014/main" val="3385167045"/>
                    </a:ext>
                  </a:extLst>
                </a:gridCol>
                <a:gridCol w="1514167">
                  <a:extLst>
                    <a:ext uri="{9D8B030D-6E8A-4147-A177-3AD203B41FA5}">
                      <a16:colId xmlns:a16="http://schemas.microsoft.com/office/drawing/2014/main" val="3577950874"/>
                    </a:ext>
                  </a:extLst>
                </a:gridCol>
              </a:tblGrid>
              <a:tr h="260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Relevance to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Authors &amp;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29788"/>
                  </a:ext>
                </a:extLst>
              </a:tr>
              <a:tr h="1093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Yu &amp; Yao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Agents and Workflows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Explores intelligent agents and workflow management using large language models for task execution and automation.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Provides the conceptual foundation for agent-based workflow optimization and intelligent task management.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Yu &amp; Yao (2026)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154070"/>
                  </a:ext>
                </a:extLst>
              </a:tr>
              <a:tr h="96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Shoba et al.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Hierarchical ML Ensemble Engine for Dynamic Project Management Optimization and Resource Intelligence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Proposes an ML ensemble framework for optimizing project management and resource allocation dynamically.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Demonstrates techniques for improving resource utilization and workflow efficiency in enterprise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Shoba et al. (2026)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576609"/>
                  </a:ext>
                </a:extLst>
              </a:tr>
              <a:tr h="96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Kosińska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Rule-based Execution of Management Actions in Cloud-native Environments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Introduces a rule-based approach for automating management actions in cloud-native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Supports the use of constraint-based and rule-driven mechanisms for workflow execution and bottleneck reduction.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Kosińska et al. (2026)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513503"/>
                  </a:ext>
                </a:extLst>
              </a:tr>
              <a:tr h="96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Yandamuri</a:t>
                      </a:r>
                      <a:r>
                        <a:rPr lang="en-IN" sz="1200" dirty="0"/>
                        <a:t>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/>
                        <a:t>AI-Enabled Workflow Automation and Predictive Analytics for Enterprise Operations Management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Presents AI-driven workflow automation integrated with predictive analytics for enterprise operations.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Highlights the role of AI in predicting performance trends and enhancing operational decision-making.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Yandamuri</a:t>
                      </a:r>
                      <a:r>
                        <a:rPr lang="en-IN" sz="1200" dirty="0"/>
                        <a:t> (2026)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423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18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1C06-904E-64F4-B21E-24F79960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DA8D-B25F-AD4A-0A9E-AAAC12F7D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39" y="1465006"/>
            <a:ext cx="5919021" cy="844248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72985-6E05-E90E-7698-91E8D8389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2428567"/>
            <a:ext cx="7452851" cy="3972233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Enterprise workflows often experience delays due to inefficient task execution.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Manual monitoring of large task datasets is time-consuming and error-prone.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Bottlenecks are difficult to identify without systematic analysis.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Organizations require a lightweight and explainable solution to detect workflow inefficiencies.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cap="none" spc="0" dirty="0">
                <a:cs typeface="Times New Roman" panose="02020603050405020304" pitchFamily="18" charset="0"/>
              </a:rPr>
              <a:t>There is a need for a rule-driven system that can identify, classify, and HELP reduce task bottlenecks.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cap="none" spc="0" dirty="0"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19D5A919-F688-B9A1-5C12-C58EF6D4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00ADA-B3D9-F99E-A221-D6A21D5F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64" y="1465006"/>
            <a:ext cx="3032273" cy="33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2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1F55-86DA-F1DB-ED71-05765463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65B7-61BA-D762-B413-F18BF1F78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74" y="1443283"/>
            <a:ext cx="8504275" cy="865239"/>
          </a:xfrm>
        </p:spPr>
        <p:txBody>
          <a:bodyPr>
            <a:normAutofit/>
          </a:bodyPr>
          <a:lstStyle/>
          <a:p>
            <a:r>
              <a:rPr lang="en-IN" sz="4400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D32EB-855E-2BDE-0253-155313B43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2477729"/>
            <a:ext cx="6518158" cy="3195600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workflow tasks and identify delayed activities.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bottlenecks using predefined business rules.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bottlenecks into minor, moderate, and severe categories.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workflow management strategies.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optimization and measure performance improvement.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analytical reports for workflow evaluation.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cap="none" spc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A2ADB053-8968-B846-98EE-D69B04BA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020671-829C-9222-DB7E-3E48C0CC7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219" y="1946787"/>
            <a:ext cx="3961771" cy="362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7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E568-443C-CDDB-7E47-15620C285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575D-1222-64DE-EE96-4A48E11C8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152" y="1514948"/>
            <a:ext cx="5112145" cy="981458"/>
          </a:xfrm>
        </p:spPr>
        <p:txBody>
          <a:bodyPr/>
          <a:lstStyle/>
          <a:p>
            <a:r>
              <a:rPr lang="en-IN" sz="4400" dirty="0"/>
              <a:t>Existing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3BBCB-5B88-E0B0-1C45-8A67970C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894" y="2684883"/>
            <a:ext cx="5584093" cy="3047439"/>
          </a:xfrm>
        </p:spPr>
        <p:txBody>
          <a:bodyPr>
            <a:norm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Workflow monitoring is largely manual.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Delays are identified only after operational issues occur.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Limited visibility into department-wise performance.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Lack of structured bottleneck classification mechanisms.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Decision-making depends heavily on human observation.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cap="none" spc="0" dirty="0"/>
              <a:t>Difficult to scale for large datasets.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cap="none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FBC7F39D-CEAF-F3FD-4C40-49A76993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776411-23B1-082C-3F17-6F2C87D1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4" y="1590860"/>
            <a:ext cx="4338736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2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25EE-7E98-B823-5DA7-2118306F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12F532-F5DE-907F-3D92-5728AFE3C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91" y="1940604"/>
            <a:ext cx="4783036" cy="3480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E63BB-4493-2A7A-24FC-056A72734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576" y="1436810"/>
            <a:ext cx="8504275" cy="777731"/>
          </a:xfrm>
        </p:spPr>
        <p:txBody>
          <a:bodyPr>
            <a:normAutofit/>
          </a:bodyPr>
          <a:lstStyle/>
          <a:p>
            <a:r>
              <a:rPr lang="en-IN" sz="4400" dirty="0"/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C31D4-C38E-1535-0D70-59BBF614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2299065"/>
            <a:ext cx="6567319" cy="3342968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A rule-based enterprise workflow optimization framework.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Automatically </a:t>
            </a:r>
            <a:r>
              <a:rPr lang="en-IN" cap="none" spc="0" dirty="0" err="1"/>
              <a:t>analyzes</a:t>
            </a:r>
            <a:r>
              <a:rPr lang="en-IN" cap="none" spc="0" dirty="0"/>
              <a:t> workflow datasets.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Detects bottlenecks based on task delays.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Assigns workflow management methods using business rules.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Simulates optimization outcomes to estimate performance gains.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Generates department-wise and task-wise analytical reports.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cap="none" spc="0" dirty="0"/>
              <a:t>Uses dynamic memory allocation for scalable data handling.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cap="none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F7A983D6-9E18-E9EE-5194-336D15681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56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0D6A-8C31-DA8E-72BE-083F0F21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598" y="169825"/>
            <a:ext cx="6883152" cy="894299"/>
          </a:xfrm>
        </p:spPr>
        <p:txBody>
          <a:bodyPr/>
          <a:lstStyle/>
          <a:p>
            <a:pPr algn="ctr"/>
            <a:r>
              <a:rPr lang="en-IN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57C57-A804-85CD-D324-63C48637C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56"/>
          <a:stretch>
            <a:fillRect/>
          </a:stretch>
        </p:blipFill>
        <p:spPr>
          <a:xfrm>
            <a:off x="0" y="1307690"/>
            <a:ext cx="12192000" cy="5550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658B90-F305-6C5B-B5DF-5AB4D835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21" y="121337"/>
            <a:ext cx="1843985" cy="7392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2AAE51-F31E-FCBB-B0F1-F5CD927A7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335" y="224511"/>
            <a:ext cx="2837044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9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4959-71D3-ED00-3379-D90E83E3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3A3D-5EA5-F304-E3EB-192592EFC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50" y="1088923"/>
            <a:ext cx="11582400" cy="668594"/>
          </a:xfrm>
        </p:spPr>
        <p:txBody>
          <a:bodyPr>
            <a:normAutofit/>
          </a:bodyPr>
          <a:lstStyle/>
          <a:p>
            <a:r>
              <a:rPr lang="en-IN" sz="3600" dirty="0"/>
              <a:t>Module 1 – Intelligent Workflow Analysis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59A59-62EE-851B-8262-68ABDA775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50" y="1892711"/>
            <a:ext cx="8052618" cy="4567084"/>
          </a:xfrm>
        </p:spPr>
        <p:txBody>
          <a:bodyPr>
            <a:normAutofit fontScale="92500" lnSpcReduction="10000"/>
          </a:bodyPr>
          <a:lstStyle/>
          <a:p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PERFORMED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workflow dataset from CSV files.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allocates memory for workflow records.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difference between estimated and actual completion times.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delayed tasks automatically.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delays into: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delay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delay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delay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workflow efficiency status.</a:t>
            </a:r>
          </a:p>
          <a:p>
            <a:pPr>
              <a:buNone/>
            </a:pPr>
            <a:r>
              <a:rPr lang="en-IN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>
              <a:buNone/>
            </a:pPr>
            <a:r>
              <a:rPr lang="en-IN" b="0" cap="none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identification of workflow bottlenecks and operational inefficiencies.</a:t>
            </a:r>
          </a:p>
          <a:p>
            <a:endParaRPr lang="en-IN" cap="none" spc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569EE399-9CCE-804E-31C2-C7F28D3A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4" y="128703"/>
            <a:ext cx="11149780" cy="825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6AD3EC-C5BA-2C22-B7D4-87630A501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21" y="2217176"/>
            <a:ext cx="4229467" cy="363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6EEB-B312-0440-C5E4-F3137264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4440-CDFD-BE6C-802E-795763044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84" y="1187645"/>
            <a:ext cx="11897032" cy="658761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Module 2 – Optimization &amp; Decision Support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7A028-DA0C-0F44-1CD1-ABD7092E5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110" y="2153265"/>
            <a:ext cx="9232491" cy="428686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cap="none" spc="0" dirty="0"/>
              <a:t>FUNCTIONS PERFORMED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Evaluates task priority levels.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Assigns workflow management methods: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Optimized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Hybrid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Manual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Simulates post-optimization task execution.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Calculates expected performance improvement.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Generates workflow summaries and departmental reports.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0" cap="none" spc="0" dirty="0"/>
              <a:t>Validates rule-engine accuracy against the dataset. </a:t>
            </a:r>
          </a:p>
          <a:p>
            <a:pPr>
              <a:buNone/>
            </a:pPr>
            <a:r>
              <a:rPr lang="en-IN" cap="none" spc="0" dirty="0"/>
              <a:t>OUTCOME</a:t>
            </a:r>
          </a:p>
          <a:p>
            <a:pPr>
              <a:buNone/>
            </a:pPr>
            <a:r>
              <a:rPr lang="en-IN" b="0" cap="none" spc="0" dirty="0"/>
              <a:t>Supports decision-making and recommends strategies to reduce workflow delays.</a:t>
            </a:r>
          </a:p>
          <a:p>
            <a:endParaRPr lang="en-IN" cap="none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BD4DFCEE-B237-0F38-04F9-B825F646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118871"/>
            <a:ext cx="11149780" cy="981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5B409-D931-EB3B-65C2-6F6B5A2D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86" y="1943553"/>
            <a:ext cx="4818604" cy="36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37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07F2A-0962-E06F-F6E4-0F7C09A62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95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664C-CECC-8F02-E584-E4C3504D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F7BE-FD02-A21E-357A-519B910DD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906" y="1422704"/>
            <a:ext cx="8504275" cy="855406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Advantages &amp;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CF0FF-08A0-5265-4746-8C237146E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480" y="2521827"/>
            <a:ext cx="5298957" cy="3878973"/>
          </a:xfrm>
        </p:spPr>
        <p:txBody>
          <a:bodyPr>
            <a:normAutofit lnSpcReduction="10000"/>
          </a:bodyPr>
          <a:lstStyle/>
          <a:p>
            <a:r>
              <a:rPr lang="en-IN" sz="1800" cap="none" spc="0" dirty="0"/>
              <a:t>Advantages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Simple and easy to understand.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Fully explainable rule-based decisions.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No machine learning dependency.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Fast execution with low computational overhead.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Dynamic memory improves scalability.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Generates accurate workflow reports.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0" cap="none" spc="0" dirty="0"/>
              <a:t>Achieved 100% validation accuracy on the dataset.</a:t>
            </a:r>
          </a:p>
          <a:p>
            <a:endParaRPr lang="en-IN" sz="1800" cap="none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13251E87-5F4F-A4AF-AB3B-6B31972C7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E4A5D-D9D5-CB65-1EF1-91D06541A5ED}"/>
              </a:ext>
            </a:extLst>
          </p:cNvPr>
          <p:cNvSpPr txBox="1"/>
          <p:nvPr/>
        </p:nvSpPr>
        <p:spPr>
          <a:xfrm>
            <a:off x="6803922" y="2792361"/>
            <a:ext cx="4621161" cy="3000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Limitations</a:t>
            </a:r>
          </a:p>
          <a:p>
            <a:pPr marL="285750" lvl="0" indent="-285750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Performance depends on predefined rules. </a:t>
            </a:r>
          </a:p>
          <a:p>
            <a:pPr marL="285750" lvl="0" indent="-285750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Rules must be updated when business processes change. </a:t>
            </a:r>
          </a:p>
          <a:p>
            <a:pPr marL="285750" lvl="0" indent="-285750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Cannot automatically learn from new patterns. </a:t>
            </a:r>
          </a:p>
          <a:p>
            <a:pPr marL="285750" lvl="0" indent="-285750">
              <a:lnSpc>
                <a:spcPct val="150000"/>
              </a:lnSpc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600" dirty="0"/>
              <a:t>Limited adaptability compared to advanced AI systems.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58028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7206-DCEB-DA61-96E6-79E7C71E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E529-98BD-7C71-F5B7-42B1F969C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855" y="1504335"/>
            <a:ext cx="4414055" cy="845574"/>
          </a:xfrm>
        </p:spPr>
        <p:txBody>
          <a:bodyPr>
            <a:normAutofit/>
          </a:bodyPr>
          <a:lstStyle/>
          <a:p>
            <a:r>
              <a:rPr lang="en-IN" sz="4400" dirty="0"/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39AF0-7DFD-A1CE-D723-96402F96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2566219"/>
            <a:ext cx="5967551" cy="3244646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Integration with real-time workflow monitoring systems.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Development of graphical dashboards for visualization.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Hybrid integration with machine learning models.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Cloud-based workflow analytics platform.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Automated resource allocation recommendations.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Real-time bottleneck alerts and notifications.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cap="none" spc="0" dirty="0"/>
              <a:t>Support for larger enterprise datasets and distributed systems.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cap="none" spc="0" dirty="0"/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11D38BEC-ACB1-26A5-ED95-9A7B4841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  <p:pic>
        <p:nvPicPr>
          <p:cNvPr id="6" name="Picture 5" descr="Future scope Images - Free Download on Magnific (formerly Freepik)">
            <a:extLst>
              <a:ext uri="{FF2B5EF4-FFF2-40B4-BE49-F238E27FC236}">
                <a16:creationId xmlns:a16="http://schemas.microsoft.com/office/drawing/2014/main" id="{BCA0D2EC-DA97-EA0D-F7B3-6218D455B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21"/>
          <a:stretch>
            <a:fillRect/>
          </a:stretch>
        </p:blipFill>
        <p:spPr>
          <a:xfrm>
            <a:off x="5773112" y="1395297"/>
            <a:ext cx="5848617" cy="36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5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AE59-31FF-25C0-166E-89B05787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A839-9DCF-796D-1AEA-36E92C3C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1336745"/>
            <a:ext cx="4414055" cy="845574"/>
          </a:xfrm>
        </p:spPr>
        <p:txBody>
          <a:bodyPr>
            <a:normAutofit/>
          </a:bodyPr>
          <a:lstStyle/>
          <a:p>
            <a:r>
              <a:rPr lang="en-IN" sz="44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5D3EC-6611-1937-1BB8-C7FB22073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236" y="2340077"/>
            <a:ext cx="6596816" cy="3726426"/>
          </a:xfrm>
        </p:spPr>
        <p:txBody>
          <a:bodyPr>
            <a:normAutofit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A rule-based enterprise workflow optimization framework was successfully developed.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The system effectively identifies and categorizes workflow bottlenecks.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Dynamic memory allocation enables efficient management of workflow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Optimization rules help improve task execution strategies.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Department-wise and workflow-wide insights support better decision-making.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cap="none" spc="0" dirty="0"/>
              <a:t>The project demonstrates how rule-based intelligence can enhance enterprise workflow efficiency in a transparent and cost-effective manner.</a:t>
            </a: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18546B07-AC46-DEE0-E79A-E7F182C3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03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1513-4392-FF01-7D21-B346FF98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6BF7-205B-D043-BAC9-3B21A5B3E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394" y="2435721"/>
            <a:ext cx="9389806" cy="1986558"/>
          </a:xfrm>
        </p:spPr>
        <p:txBody>
          <a:bodyPr>
            <a:normAutofit/>
          </a:bodyPr>
          <a:lstStyle/>
          <a:p>
            <a:pPr algn="ctr"/>
            <a:r>
              <a:rPr lang="en-IN" sz="8800" dirty="0"/>
              <a:t>THANK YOU!</a:t>
            </a:r>
          </a:p>
        </p:txBody>
      </p:sp>
      <p:pic>
        <p:nvPicPr>
          <p:cNvPr id="4" name="Picture 3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E13E1CD4-43A6-E369-F5B8-BE629D8A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97529"/>
            <a:ext cx="11149780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57212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overlay</Template>
  <TotalTime>217</TotalTime>
  <Words>837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Nova Light</vt:lpstr>
      <vt:lpstr>Courier New</vt:lpstr>
      <vt:lpstr>Elephant</vt:lpstr>
      <vt:lpstr>Times New Roman</vt:lpstr>
      <vt:lpstr>Wingdings</vt:lpstr>
      <vt:lpstr>ModOverlayVTI</vt:lpstr>
      <vt:lpstr>Rule-Based Enterprise Workflow Optimization for Identifying and Reducing Task Bottlenecks Using Functions and Dynamic Memory Allocation</vt:lpstr>
      <vt:lpstr>Introduction</vt:lpstr>
      <vt:lpstr>Literature Survey</vt:lpstr>
      <vt:lpstr>Problem Statement</vt:lpstr>
      <vt:lpstr>Objectives</vt:lpstr>
      <vt:lpstr>Existing System</vt:lpstr>
      <vt:lpstr>Proposed System</vt:lpstr>
      <vt:lpstr>System Architecture</vt:lpstr>
      <vt:lpstr>Module 1 – Intelligent Workflow Analysis Engine</vt:lpstr>
      <vt:lpstr>Module 2 – Optimization &amp; Decision Support Engine</vt:lpstr>
      <vt:lpstr>PowerPoint Presentation</vt:lpstr>
      <vt:lpstr>Advantages &amp; Limitations</vt:lpstr>
      <vt:lpstr>Future Scope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absusan2505@gmail.com</dc:creator>
  <cp:lastModifiedBy>absusan2505@gmail.com</cp:lastModifiedBy>
  <cp:revision>19</cp:revision>
  <dcterms:created xsi:type="dcterms:W3CDTF">2026-07-13T05:00:15Z</dcterms:created>
  <dcterms:modified xsi:type="dcterms:W3CDTF">2026-09-07T04:34:43Z</dcterms:modified>
</cp:coreProperties>
</file>